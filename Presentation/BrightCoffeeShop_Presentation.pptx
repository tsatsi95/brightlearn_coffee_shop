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notesSlides/notesSlide5.xml" ContentType="application/vnd.openxmlformats-officedocument.presentationml.notesSlide+xml"/>
  <Override PartName="/ppt/charts/chart4.xml" ContentType="application/vnd.openxmlformats-officedocument.drawingml.chart+xml"/>
  <Override PartName="/ppt/notesSlides/notesSlide6.xml" ContentType="application/vnd.openxmlformats-officedocument.presentationml.notesSlide+xml"/>
  <Override PartName="/ppt/charts/chart5.xml" ContentType="application/vnd.openxmlformats-officedocument.drawingml.chart+xml"/>
  <Override PartName="/ppt/notesSlides/notesSlide7.xml" ContentType="application/vnd.openxmlformats-officedocument.presentationml.notesSlide+xml"/>
  <Override PartName="/ppt/charts/chart6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701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C8843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7B3F1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81678</c:v>
                </c:pt>
                <c:pt idx="1">
                  <c:v>76145</c:v>
                </c:pt>
                <c:pt idx="2">
                  <c:v>98835</c:v>
                </c:pt>
                <c:pt idx="3">
                  <c:v>118941</c:v>
                </c:pt>
                <c:pt idx="4">
                  <c:v>156728</c:v>
                </c:pt>
                <c:pt idx="5">
                  <c:v>166486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738-4121-81AA-5CEFB04486C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Astoria</c:v>
                </c:pt>
              </c:strCache>
            </c:strRef>
          </c:tx>
          <c:spPr>
            <a:solidFill>
              <a:srgbClr val="C8843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Astoria</c:v>
                </c:pt>
                <c:pt idx="1">
                  <c:v>Hell's Kitchen</c:v>
                </c:pt>
                <c:pt idx="2">
                  <c:v>Lower Manhattan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232244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725-42F4-993A-15BAF44CBA6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Hell's Kitchen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Astoria</c:v>
                </c:pt>
                <c:pt idx="1">
                  <c:v>Hell's Kitchen</c:v>
                </c:pt>
                <c:pt idx="2">
                  <c:v>Lower Manhattan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236511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725-42F4-993A-15BAF44CBA6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Lower Manhattan</c:v>
                </c:pt>
              </c:strCache>
            </c:strRef>
          </c:tx>
          <c:spPr>
            <a:solidFill>
              <a:srgbClr val="7C3AE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Astoria</c:v>
                </c:pt>
                <c:pt idx="1">
                  <c:v>Hell's Kitchen</c:v>
                </c:pt>
                <c:pt idx="2">
                  <c:v>Lower Manhattan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230057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725-42F4-993A-15BAF44CBA6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(ZAR)</c:v>
                </c:pt>
              </c:strCache>
            </c:strRef>
          </c:tx>
          <c:spPr>
            <a:solidFill>
              <a:srgbClr val="6B3F1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B1A-4483-9414-5224CFB3CDC3}"/>
              </c:ext>
            </c:extLst>
          </c:dPt>
          <c:dPt>
            <c:idx val="1"/>
            <c:invertIfNegative val="0"/>
            <c:bubble3D val="0"/>
            <c:spPr>
              <a:solidFill>
                <a:srgbClr val="8B5E2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B1A-4483-9414-5224CFB3CDC3}"/>
              </c:ext>
            </c:extLst>
          </c:dPt>
          <c:dPt>
            <c:idx val="2"/>
            <c:invertIfNegative val="0"/>
            <c:bubble3D val="0"/>
            <c:spPr>
              <a:solidFill>
                <a:srgbClr val="A0522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B1A-4483-9414-5224CFB3CDC3}"/>
              </c:ext>
            </c:extLst>
          </c:dPt>
          <c:dPt>
            <c:idx val="3"/>
            <c:invertIfNegative val="0"/>
            <c:bubble3D val="0"/>
            <c:spPr>
              <a:solidFill>
                <a:srgbClr val="E8A85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B1A-4483-9414-5224CFB3CDC3}"/>
              </c:ext>
            </c:extLst>
          </c:dPt>
          <c:dPt>
            <c:idx val="4"/>
            <c:invertIfNegative val="0"/>
            <c:bubble3D val="0"/>
            <c:spPr>
              <a:solidFill>
                <a:srgbClr val="C8843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CB1A-4483-9414-5224CFB3CDC3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Brewed Black Tea</c:v>
                </c:pt>
                <c:pt idx="1">
                  <c:v>Gourmet Brewed Coffee</c:v>
                </c:pt>
                <c:pt idx="2">
                  <c:v>Hot Chocolate</c:v>
                </c:pt>
                <c:pt idx="3">
                  <c:v>Brewed Chai Tea</c:v>
                </c:pt>
                <c:pt idx="4">
                  <c:v>Barista Espresso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47932</c:v>
                </c:pt>
                <c:pt idx="1">
                  <c:v>70035</c:v>
                </c:pt>
                <c:pt idx="2">
                  <c:v>72416</c:v>
                </c:pt>
                <c:pt idx="3">
                  <c:v>77082</c:v>
                </c:pt>
                <c:pt idx="4">
                  <c:v>91406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CB1A-4483-9414-5224CFB3CDC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(ZAR)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113-447D-948B-6E20C2AD78C6}"/>
              </c:ext>
            </c:extLst>
          </c:dPt>
          <c:dPt>
            <c:idx val="1"/>
            <c:invertIfNegative val="0"/>
            <c:bubble3D val="0"/>
            <c:spPr>
              <a:solidFill>
                <a:srgbClr val="E55A1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113-447D-948B-6E20C2AD78C6}"/>
              </c:ext>
            </c:extLst>
          </c:dPt>
          <c:dPt>
            <c:idx val="2"/>
            <c:invertIfNegative val="0"/>
            <c:bubble3D val="0"/>
            <c:spPr>
              <a:solidFill>
                <a:srgbClr val="E883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113-447D-948B-6E20C2AD78C6}"/>
              </c:ext>
            </c:extLst>
          </c:dPt>
          <c:dPt>
            <c:idx val="3"/>
            <c:invertIfNegative val="0"/>
            <c:bubble3D val="0"/>
            <c:spPr>
              <a:solidFill>
                <a:srgbClr val="C8843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113-447D-948B-6E20C2AD78C6}"/>
              </c:ext>
            </c:extLst>
          </c:dPt>
          <c:dPt>
            <c:idx val="4"/>
            <c:invertIfNegative val="0"/>
            <c:bubble3D val="0"/>
            <c:spPr>
              <a:solidFill>
                <a:srgbClr val="E8A85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E113-447D-948B-6E20C2AD78C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Green Beans</c:v>
                </c:pt>
                <c:pt idx="1">
                  <c:v>Green Tea</c:v>
                </c:pt>
                <c:pt idx="2">
                  <c:v>Organic Chocolate</c:v>
                </c:pt>
                <c:pt idx="3">
                  <c:v>Sugar Free Syrup</c:v>
                </c:pt>
                <c:pt idx="4">
                  <c:v>Black Tea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1340</c:v>
                </c:pt>
                <c:pt idx="1">
                  <c:v>1471</c:v>
                </c:pt>
                <c:pt idx="2">
                  <c:v>1680</c:v>
                </c:pt>
                <c:pt idx="3">
                  <c:v>2324</c:v>
                </c:pt>
                <c:pt idx="4">
                  <c:v>2712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E113-447D-948B-6E20C2AD78C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by Time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563E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9B3-4578-B06E-E4FF8EDB0F71}"/>
              </c:ext>
            </c:extLst>
          </c:dPt>
          <c:dPt>
            <c:idx val="1"/>
            <c:bubble3D val="0"/>
            <c:spPr>
              <a:solidFill>
                <a:srgbClr val="C8843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9B3-4578-B06E-E4FF8EDB0F71}"/>
              </c:ext>
            </c:extLst>
          </c:dPt>
          <c:dPt>
            <c:idx val="2"/>
            <c:bubble3D val="0"/>
            <c:spPr>
              <a:solidFill>
                <a:srgbClr val="7C3AE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9B3-4578-B06E-E4FF8EDB0F71}"/>
              </c:ext>
            </c:extLst>
          </c:dPt>
          <c:dPt>
            <c:idx val="3"/>
            <c:bubble3D val="0"/>
            <c:spPr>
              <a:solidFill>
                <a:srgbClr val="16A3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9B3-4578-B06E-E4FF8EDB0F71}"/>
              </c:ext>
            </c:extLst>
          </c:dPt>
          <c:dPt>
            <c:idx val="4"/>
            <c:bubble3D val="0"/>
            <c:spPr>
              <a:solidFill>
                <a:srgbClr val="E8A85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89B3-4578-B06E-E4FF8EDB0F71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9B3-4578-B06E-E4FF8EDB0F71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9B3-4578-B06E-E4FF8EDB0F71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89B3-4578-B06E-E4FF8EDB0F71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89B3-4578-B06E-E4FF8EDB0F71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89B3-4578-B06E-E4FF8EDB0F71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Rush Hour</c:v>
                </c:pt>
                <c:pt idx="1">
                  <c:v>Mid Day</c:v>
                </c:pt>
                <c:pt idx="2">
                  <c:v>Afternoon</c:v>
                </c:pt>
                <c:pt idx="3">
                  <c:v>Pickup Hour</c:v>
                </c:pt>
                <c:pt idx="4">
                  <c:v>Evening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168127</c:v>
                </c:pt>
                <c:pt idx="1">
                  <c:v>220162</c:v>
                </c:pt>
                <c:pt idx="2">
                  <c:v>163598</c:v>
                </c:pt>
                <c:pt idx="3">
                  <c:v>81290</c:v>
                </c:pt>
                <c:pt idx="4">
                  <c:v>65636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89B3-4578-B06E-E4FF8EDB0F7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374151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8F0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C8843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0C5-4311-B65A-DDFCF0248C6E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70C5-4311-B65A-DDFCF0248C6E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70C5-4311-B65A-DDFCF0248C6E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70C5-4311-B65A-DDFCF0248C6E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70C5-4311-B65A-DDFCF0248C6E}"/>
              </c:ext>
            </c:extLst>
          </c:dPt>
          <c:dPt>
            <c:idx val="5"/>
            <c:invertIfNegative val="0"/>
            <c:bubble3D val="0"/>
            <c:spPr>
              <a:solidFill>
                <a:srgbClr val="E8A85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70C5-4311-B65A-DDFCF0248C6E}"/>
              </c:ext>
            </c:extLst>
          </c:dPt>
          <c:dPt>
            <c:idx val="6"/>
            <c:invertIfNegative val="0"/>
            <c:bubble3D val="0"/>
            <c:spPr>
              <a:solidFill>
                <a:srgbClr val="A0522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70C5-4311-B65A-DDFCF0248C6E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Sun</c:v>
                </c:pt>
                <c:pt idx="1">
                  <c:v>Mon</c:v>
                </c:pt>
                <c:pt idx="2">
                  <c:v>Tue</c:v>
                </c:pt>
                <c:pt idx="3">
                  <c:v>Wed</c:v>
                </c:pt>
                <c:pt idx="4">
                  <c:v>Thu</c:v>
                </c:pt>
                <c:pt idx="5">
                  <c:v>Fri</c:v>
                </c:pt>
                <c:pt idx="6">
                  <c:v>Sat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98330</c:v>
                </c:pt>
                <c:pt idx="1">
                  <c:v>101677</c:v>
                </c:pt>
                <c:pt idx="2">
                  <c:v>99456</c:v>
                </c:pt>
                <c:pt idx="3">
                  <c:v>100314</c:v>
                </c:pt>
                <c:pt idx="4">
                  <c:v>100768</c:v>
                </c:pt>
                <c:pt idx="5">
                  <c:v>101373</c:v>
                </c:pt>
                <c:pt idx="6">
                  <c:v>96894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70C5-4311-B65A-DDFCF0248C6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3/30/2026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0F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1463040"/>
            <a:ext cx="5029200" cy="5029200"/>
          </a:xfrm>
          <a:prstGeom prst="ellipse">
            <a:avLst/>
          </a:prstGeom>
          <a:solidFill>
            <a:srgbClr val="C8843E">
              <a:alpha val="18000"/>
            </a:srgbClr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9235440" y="-822960"/>
            <a:ext cx="3474720" cy="3474720"/>
          </a:xfrm>
          <a:prstGeom prst="ellipse">
            <a:avLst/>
          </a:prstGeom>
          <a:solidFill>
            <a:srgbClr val="E8A857">
              <a:alpha val="25000"/>
            </a:srgbClr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" name="Shape 2"/>
          <p:cNvSpPr/>
          <p:nvPr/>
        </p:nvSpPr>
        <p:spPr>
          <a:xfrm>
            <a:off x="0" y="6309360"/>
            <a:ext cx="12161520" cy="548640"/>
          </a:xfrm>
          <a:prstGeom prst="rect">
            <a:avLst/>
          </a:prstGeom>
          <a:solidFill>
            <a:srgbClr val="C8843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dirty="0">
                <a:solidFill>
                  <a:srgbClr val="000000"/>
                </a:solidFill>
              </a:rPr>
              <a:t>☕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365760" y="173736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kern="0" spc="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COFFEE SHOP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365760" y="26060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E8A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Performance Analysis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65760" y="3246120"/>
            <a:ext cx="2011680" cy="45720"/>
          </a:xfrm>
          <a:prstGeom prst="rect">
            <a:avLst/>
          </a:prstGeom>
          <a:solidFill>
            <a:srgbClr val="C8843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9" name="Text 7"/>
          <p:cNvSpPr/>
          <p:nvPr/>
        </p:nvSpPr>
        <p:spPr>
          <a:xfrm>
            <a:off x="365760" y="34015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2D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 – June 2023  |  3 Store Locations  |  All Prices in ZAR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0" y="6446520"/>
            <a:ext cx="1216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the Tsatsi Letsoara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0F05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PERFORMANCE METRICS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0" y="30175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E8A857"/>
                </a:solidFill>
              </a:rPr>
              <a:t>Jan – Jun 2023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265176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2651760" cy="64008"/>
          </a:xfrm>
          <a:prstGeom prst="rect">
            <a:avLst/>
          </a:prstGeom>
          <a:solidFill>
            <a:srgbClr val="C8843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7" name="Text 5"/>
          <p:cNvSpPr/>
          <p:nvPr/>
        </p:nvSpPr>
        <p:spPr>
          <a:xfrm>
            <a:off x="502920" y="1444752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88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R698,812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202996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280160"/>
            <a:ext cx="265176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0" name="Shape 8"/>
          <p:cNvSpPr/>
          <p:nvPr/>
        </p:nvSpPr>
        <p:spPr>
          <a:xfrm>
            <a:off x="3200400" y="1280160"/>
            <a:ext cx="2651760" cy="6400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1" name="Text 9"/>
          <p:cNvSpPr/>
          <p:nvPr/>
        </p:nvSpPr>
        <p:spPr>
          <a:xfrm>
            <a:off x="3337560" y="1444752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214,470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291840" y="202996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Transactions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1280160"/>
            <a:ext cx="265176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4" name="Shape 12"/>
          <p:cNvSpPr/>
          <p:nvPr/>
        </p:nvSpPr>
        <p:spPr>
          <a:xfrm>
            <a:off x="6035040" y="1280160"/>
            <a:ext cx="2651760" cy="64008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5" name="Text 13"/>
          <p:cNvSpPr/>
          <p:nvPr/>
        </p:nvSpPr>
        <p:spPr>
          <a:xfrm>
            <a:off x="6172200" y="1444752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R3,263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126480" y="202996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Daily Revenue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869680" y="1280160"/>
            <a:ext cx="265176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8" name="Shape 16"/>
          <p:cNvSpPr/>
          <p:nvPr/>
        </p:nvSpPr>
        <p:spPr>
          <a:xfrm>
            <a:off x="8869680" y="1280160"/>
            <a:ext cx="2651760" cy="64008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9" name="Text 17"/>
          <p:cNvSpPr/>
          <p:nvPr/>
        </p:nvSpPr>
        <p:spPr>
          <a:xfrm>
            <a:off x="9006840" y="1444752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Stores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8961120" y="202996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Locations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28346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B3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Trend (ZAR)</a:t>
            </a:r>
            <a:endParaRPr lang="en-US" sz="1400" dirty="0"/>
          </a:p>
        </p:txBody>
      </p:sp>
      <p:graphicFrame>
        <p:nvGraphicFramePr>
          <p:cNvPr id="22" name="Chart 0"/>
          <p:cNvGraphicFramePr/>
          <p:nvPr/>
        </p:nvGraphicFramePr>
        <p:xfrm>
          <a:off x="365760" y="3218688"/>
          <a:ext cx="749808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3" name="Shape 20"/>
          <p:cNvSpPr/>
          <p:nvPr/>
        </p:nvSpPr>
        <p:spPr>
          <a:xfrm>
            <a:off x="8229600" y="3218688"/>
            <a:ext cx="3566160" cy="1508760"/>
          </a:xfrm>
          <a:prstGeom prst="rect">
            <a:avLst/>
          </a:prstGeom>
          <a:solidFill>
            <a:srgbClr val="E8F5E9"/>
          </a:solidFill>
          <a:ln w="6350">
            <a:solidFill>
              <a:srgbClr val="C3E6CB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4" name="Text 21"/>
          <p:cNvSpPr/>
          <p:nvPr/>
        </p:nvSpPr>
        <p:spPr>
          <a:xfrm>
            <a:off x="8229600" y="338328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6A34A"/>
                </a:solidFill>
              </a:rPr>
              <a:t>↑ 104%</a:t>
            </a:r>
            <a:endParaRPr lang="en-US" sz="3200" dirty="0"/>
          </a:p>
        </p:txBody>
      </p:sp>
      <p:sp>
        <p:nvSpPr>
          <p:cNvPr id="25" name="Text 22"/>
          <p:cNvSpPr/>
          <p:nvPr/>
        </p:nvSpPr>
        <p:spPr>
          <a:xfrm>
            <a:off x="8229600" y="4005072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</a:rPr>
              <a:t>Revenue growth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</a:rPr>
              <a:t>Jan to Jun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8229600" y="4892040"/>
            <a:ext cx="3566160" cy="1508760"/>
          </a:xfrm>
          <a:prstGeom prst="rect">
            <a:avLst/>
          </a:prstGeom>
          <a:solidFill>
            <a:srgbClr val="FFF8E1"/>
          </a:solidFill>
          <a:ln w="6350">
            <a:solidFill>
              <a:srgbClr val="FFE082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7" name="Text 24"/>
          <p:cNvSpPr/>
          <p:nvPr/>
        </p:nvSpPr>
        <p:spPr>
          <a:xfrm>
            <a:off x="8229600" y="504748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8843E"/>
                </a:solidFill>
              </a:rPr>
              <a:t>Jun 2023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8229600" y="553212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</a:rPr>
              <a:t>Best performing month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</a:rPr>
              <a:t>R166,486 revenue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1E0F05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0" name="Text 27"/>
          <p:cNvSpPr/>
          <p:nvPr/>
        </p:nvSpPr>
        <p:spPr>
          <a:xfrm>
            <a:off x="0" y="6601968"/>
            <a:ext cx="1216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2DFC0"/>
                </a:solidFill>
              </a:rPr>
              <a:t>Bright Coffee Shop  |  Business Performance Analysis 2023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0F05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PERFORMANCE COMPARISON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56616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566160" cy="109728"/>
          </a:xfrm>
          <a:prstGeom prst="rect">
            <a:avLst/>
          </a:prstGeom>
          <a:solidFill>
            <a:srgbClr val="C8843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6" name="Shape 4"/>
          <p:cNvSpPr/>
          <p:nvPr/>
        </p:nvSpPr>
        <p:spPr>
          <a:xfrm>
            <a:off x="2011680" y="1335024"/>
            <a:ext cx="457200" cy="457200"/>
          </a:xfrm>
          <a:prstGeom prst="ellipse">
            <a:avLst/>
          </a:prstGeom>
          <a:solidFill>
            <a:srgbClr val="C8843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7" name="Text 5"/>
          <p:cNvSpPr/>
          <p:nvPr/>
        </p:nvSpPr>
        <p:spPr>
          <a:xfrm>
            <a:off x="548640" y="184708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B3F1E"/>
                </a:solidFill>
              </a:rPr>
              <a:t>Astoria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2231136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8843E"/>
                </a:solidFill>
              </a:rPr>
              <a:t>R232,244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27432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</a:rPr>
              <a:t>33.2% of total revenue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15968" y="1188720"/>
            <a:ext cx="356616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1" name="Shape 9"/>
          <p:cNvSpPr/>
          <p:nvPr/>
        </p:nvSpPr>
        <p:spPr>
          <a:xfrm>
            <a:off x="4315968" y="1188720"/>
            <a:ext cx="3566160" cy="10972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2" name="Shape 10"/>
          <p:cNvSpPr/>
          <p:nvPr/>
        </p:nvSpPr>
        <p:spPr>
          <a:xfrm>
            <a:off x="5870448" y="1335024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3" name="Text 11"/>
          <p:cNvSpPr/>
          <p:nvPr/>
        </p:nvSpPr>
        <p:spPr>
          <a:xfrm>
            <a:off x="4407408" y="184708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B3F1E"/>
                </a:solidFill>
              </a:rPr>
              <a:t>Hell's Kitchen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407408" y="2231136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563EB"/>
                </a:solidFill>
              </a:rPr>
              <a:t>R236,511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407408" y="27432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</a:rPr>
              <a:t>33.8% of total revenue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174736" y="1188720"/>
            <a:ext cx="356616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7" name="Shape 15"/>
          <p:cNvSpPr/>
          <p:nvPr/>
        </p:nvSpPr>
        <p:spPr>
          <a:xfrm>
            <a:off x="8174736" y="1188720"/>
            <a:ext cx="3566160" cy="109728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8" name="Shape 16"/>
          <p:cNvSpPr/>
          <p:nvPr/>
        </p:nvSpPr>
        <p:spPr>
          <a:xfrm>
            <a:off x="9729216" y="1335024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9" name="Text 17"/>
          <p:cNvSpPr/>
          <p:nvPr/>
        </p:nvSpPr>
        <p:spPr>
          <a:xfrm>
            <a:off x="8266176" y="184708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B3F1E"/>
                </a:solidFill>
              </a:rPr>
              <a:t>Lower Manhattan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266176" y="2231136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7C3AED"/>
                </a:solidFill>
              </a:rPr>
              <a:t>R230,057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8266176" y="27432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</a:rPr>
              <a:t>32.9% of total revenue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361188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B3F1E"/>
                </a:solidFill>
              </a:rPr>
              <a:t>Revenue by Store Location</a:t>
            </a:r>
            <a:endParaRPr lang="en-US" sz="1400" dirty="0"/>
          </a:p>
        </p:txBody>
      </p:sp>
      <p:graphicFrame>
        <p:nvGraphicFramePr>
          <p:cNvPr id="23" name="Chart 0"/>
          <p:cNvGraphicFramePr/>
          <p:nvPr/>
        </p:nvGraphicFramePr>
        <p:xfrm>
          <a:off x="365760" y="3977640"/>
          <a:ext cx="7772400" cy="251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4" name="Shape 21"/>
          <p:cNvSpPr/>
          <p:nvPr/>
        </p:nvSpPr>
        <p:spPr>
          <a:xfrm>
            <a:off x="8412480" y="3611880"/>
            <a:ext cx="3383280" cy="2880360"/>
          </a:xfrm>
          <a:prstGeom prst="rect">
            <a:avLst/>
          </a:prstGeom>
          <a:solidFill>
            <a:srgbClr val="FFF3E0"/>
          </a:solidFill>
          <a:ln w="6350">
            <a:solidFill>
              <a:srgbClr val="FFCC80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5" name="Text 22"/>
          <p:cNvSpPr/>
          <p:nvPr/>
        </p:nvSpPr>
        <p:spPr>
          <a:xfrm>
            <a:off x="8549640" y="374904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8843E"/>
                </a:solidFill>
              </a:rPr>
              <a:t>Store Insight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8549640" y="4160520"/>
            <a:ext cx="31089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74151"/>
                </a:solidFill>
              </a:rPr>
              <a:t>• Hell's Kitchen leads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374151"/>
                </a:solidFill>
              </a:rPr>
              <a:t>  with R236,511
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374151"/>
                </a:solidFill>
              </a:rPr>
              <a:t>• All 3 stores are very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374151"/>
                </a:solidFill>
              </a:rPr>
              <a:t>  evenly balanced
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374151"/>
                </a:solidFill>
              </a:rPr>
              <a:t>• Lowest variance of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374151"/>
                </a:solidFill>
              </a:rPr>
              <a:t>  only R6,454 between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374151"/>
                </a:solidFill>
              </a:rPr>
              <a:t>  best &amp; worst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1E0F05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8" name="Text 25"/>
          <p:cNvSpPr/>
          <p:nvPr/>
        </p:nvSpPr>
        <p:spPr>
          <a:xfrm>
            <a:off x="0" y="6601968"/>
            <a:ext cx="1216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2DFC0"/>
                </a:solidFill>
              </a:rPr>
              <a:t>Bright Coffee Shop  |  Business Performance Analysis 2023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0F05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BEST-SELLING PRODUCTS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1143000"/>
          <a:ext cx="7498080" cy="5303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8229600" y="1143000"/>
            <a:ext cx="35661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6" name="Shape 3"/>
          <p:cNvSpPr/>
          <p:nvPr/>
        </p:nvSpPr>
        <p:spPr>
          <a:xfrm>
            <a:off x="8229600" y="1143000"/>
            <a:ext cx="347472" cy="960120"/>
          </a:xfrm>
          <a:prstGeom prst="rect">
            <a:avLst/>
          </a:prstGeom>
          <a:solidFill>
            <a:srgbClr val="C8843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7" name="Text 4"/>
          <p:cNvSpPr/>
          <p:nvPr/>
        </p:nvSpPr>
        <p:spPr>
          <a:xfrm>
            <a:off x="8229600" y="1371600"/>
            <a:ext cx="347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#1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641080" y="1216152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B3F1E"/>
                </a:solidFill>
              </a:rPr>
              <a:t>Barista Espresso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641080" y="16002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R91,406  |  24,943 units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8229600" y="2194560"/>
            <a:ext cx="35661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1" name="Shape 8"/>
          <p:cNvSpPr/>
          <p:nvPr/>
        </p:nvSpPr>
        <p:spPr>
          <a:xfrm>
            <a:off x="8229600" y="2194560"/>
            <a:ext cx="347472" cy="960120"/>
          </a:xfrm>
          <a:prstGeom prst="rect">
            <a:avLst/>
          </a:prstGeom>
          <a:solidFill>
            <a:srgbClr val="E8A85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2" name="Text 9"/>
          <p:cNvSpPr/>
          <p:nvPr/>
        </p:nvSpPr>
        <p:spPr>
          <a:xfrm>
            <a:off x="8229600" y="2423160"/>
            <a:ext cx="347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#2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641080" y="2267712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B3F1E"/>
                </a:solidFill>
              </a:rPr>
              <a:t>Brewed Chai Tea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8641080" y="265176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R77,082  |  26,250 units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8229600" y="3246120"/>
            <a:ext cx="35661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6" name="Shape 13"/>
          <p:cNvSpPr/>
          <p:nvPr/>
        </p:nvSpPr>
        <p:spPr>
          <a:xfrm>
            <a:off x="8229600" y="3246120"/>
            <a:ext cx="347472" cy="960120"/>
          </a:xfrm>
          <a:prstGeom prst="rect">
            <a:avLst/>
          </a:prstGeom>
          <a:solidFill>
            <a:srgbClr val="A0522D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7" name="Text 14"/>
          <p:cNvSpPr/>
          <p:nvPr/>
        </p:nvSpPr>
        <p:spPr>
          <a:xfrm>
            <a:off x="8229600" y="3474720"/>
            <a:ext cx="347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#3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641080" y="3319272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B3F1E"/>
                </a:solidFill>
              </a:rPr>
              <a:t>Hot Chocolate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8641080" y="370332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R72,416  |  17,457 units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8229600" y="4297680"/>
            <a:ext cx="35661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1" name="Shape 18"/>
          <p:cNvSpPr/>
          <p:nvPr/>
        </p:nvSpPr>
        <p:spPr>
          <a:xfrm>
            <a:off x="8229600" y="4297680"/>
            <a:ext cx="347472" cy="960120"/>
          </a:xfrm>
          <a:prstGeom prst="rect">
            <a:avLst/>
          </a:prstGeom>
          <a:solidFill>
            <a:srgbClr val="8B5E2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2" name="Text 19"/>
          <p:cNvSpPr/>
          <p:nvPr/>
        </p:nvSpPr>
        <p:spPr>
          <a:xfrm>
            <a:off x="8229600" y="4526280"/>
            <a:ext cx="347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#4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8641080" y="4370832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B3F1E"/>
                </a:solidFill>
              </a:rPr>
              <a:t>Gourmet Brewed Coffee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8641080" y="475488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R70,035  |  25,973 units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8229600" y="5349240"/>
            <a:ext cx="35661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6" name="Shape 23"/>
          <p:cNvSpPr/>
          <p:nvPr/>
        </p:nvSpPr>
        <p:spPr>
          <a:xfrm>
            <a:off x="8229600" y="5349240"/>
            <a:ext cx="347472" cy="960120"/>
          </a:xfrm>
          <a:prstGeom prst="rect">
            <a:avLst/>
          </a:prstGeom>
          <a:solidFill>
            <a:srgbClr val="6B3F1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7" name="Text 24"/>
          <p:cNvSpPr/>
          <p:nvPr/>
        </p:nvSpPr>
        <p:spPr>
          <a:xfrm>
            <a:off x="8229600" y="5577840"/>
            <a:ext cx="347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#5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8641080" y="5422392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B3F1E"/>
                </a:solidFill>
              </a:rPr>
              <a:t>Brewed Black Tea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8641080" y="580644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R47,932  |  17,462 units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1E0F05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1" name="Text 28"/>
          <p:cNvSpPr/>
          <p:nvPr/>
        </p:nvSpPr>
        <p:spPr>
          <a:xfrm>
            <a:off x="0" y="6601968"/>
            <a:ext cx="1216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2DFC0"/>
                </a:solidFill>
              </a:rPr>
              <a:t>Bright Coffee Shop  |  Business Performance Analysis 2023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0F05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SELLING PRODUCTS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1188720"/>
          <a:ext cx="7498080" cy="5212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8229600" y="1188720"/>
            <a:ext cx="3566160" cy="3383280"/>
          </a:xfrm>
          <a:prstGeom prst="rect">
            <a:avLst/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6" name="Text 3"/>
          <p:cNvSpPr/>
          <p:nvPr/>
        </p:nvSpPr>
        <p:spPr>
          <a:xfrm>
            <a:off x="8321040" y="132588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</a:rPr>
              <a:t>Attention Required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321040" y="1783080"/>
            <a:ext cx="33832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</a:rPr>
              <a:t>• Green Beans generated
  only R1,340 total
• These 5 products
  together = just 1.3%
  of total revenue
• Consider bundling or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</a:rPr>
              <a:t>  promotions to boost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</a:rPr>
              <a:t>  visibility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8229600" y="4754880"/>
            <a:ext cx="3566160" cy="1691640"/>
          </a:xfrm>
          <a:prstGeom prst="rect">
            <a:avLst/>
          </a:prstGeom>
          <a:solidFill>
            <a:srgbClr val="FFFBEB"/>
          </a:solidFill>
          <a:ln w="6350">
            <a:solidFill>
              <a:srgbClr val="FDE68A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9" name="Text 6"/>
          <p:cNvSpPr/>
          <p:nvPr/>
        </p:nvSpPr>
        <p:spPr>
          <a:xfrm>
            <a:off x="8321040" y="489204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843E"/>
                </a:solidFill>
              </a:rPr>
              <a:t>Quick Win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321040" y="530352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</a:rPr>
              <a:t>Pair Green Tea &amp; Green Beans with popular items to cross-sell and boost their revenue.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1E0F05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2" name="Text 9"/>
          <p:cNvSpPr/>
          <p:nvPr/>
        </p:nvSpPr>
        <p:spPr>
          <a:xfrm>
            <a:off x="0" y="6601968"/>
            <a:ext cx="1216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2DFC0"/>
                </a:solidFill>
              </a:rPr>
              <a:t>Bright Coffee Shop  |  Business Performance Analysis 2023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0F05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TIME OF DAY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1097280"/>
          <a:ext cx="5029200" cy="5303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669280" y="1143000"/>
            <a:ext cx="6126480" cy="93268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6" name="Shape 3"/>
          <p:cNvSpPr/>
          <p:nvPr/>
        </p:nvSpPr>
        <p:spPr>
          <a:xfrm>
            <a:off x="5669280" y="1143000"/>
            <a:ext cx="274320" cy="93268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7" name="Text 4"/>
          <p:cNvSpPr/>
          <p:nvPr/>
        </p:nvSpPr>
        <p:spPr>
          <a:xfrm>
            <a:off x="6035040" y="123444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B3F1E"/>
                </a:solidFill>
              </a:rPr>
              <a:t>Rush Hour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035040" y="161848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R168,127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9144000" y="139903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2563EB"/>
                </a:solidFill>
              </a:rPr>
              <a:t>24.1%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5669280" y="2167128"/>
            <a:ext cx="6126480" cy="93268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1" name="Shape 8"/>
          <p:cNvSpPr/>
          <p:nvPr/>
        </p:nvSpPr>
        <p:spPr>
          <a:xfrm>
            <a:off x="5669280" y="2167128"/>
            <a:ext cx="274320" cy="932688"/>
          </a:xfrm>
          <a:prstGeom prst="rect">
            <a:avLst/>
          </a:prstGeom>
          <a:solidFill>
            <a:srgbClr val="C8843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2" name="Text 9"/>
          <p:cNvSpPr/>
          <p:nvPr/>
        </p:nvSpPr>
        <p:spPr>
          <a:xfrm>
            <a:off x="6035040" y="225856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B3F1E"/>
                </a:solidFill>
              </a:rPr>
              <a:t>Mid Day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035040" y="264261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R220,162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9144000" y="24231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C8843E"/>
                </a:solidFill>
              </a:rPr>
              <a:t>31.5%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5669280" y="3191256"/>
            <a:ext cx="6126480" cy="93268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6" name="Shape 13"/>
          <p:cNvSpPr/>
          <p:nvPr/>
        </p:nvSpPr>
        <p:spPr>
          <a:xfrm>
            <a:off x="5669280" y="3191256"/>
            <a:ext cx="274320" cy="932688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7" name="Text 14"/>
          <p:cNvSpPr/>
          <p:nvPr/>
        </p:nvSpPr>
        <p:spPr>
          <a:xfrm>
            <a:off x="6035040" y="3282696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B3F1E"/>
                </a:solidFill>
              </a:rPr>
              <a:t>Afternoon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035040" y="3666744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R163,598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9144000" y="344728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7C3AED"/>
                </a:solidFill>
              </a:rPr>
              <a:t>23.4%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5669280" y="4215384"/>
            <a:ext cx="6126480" cy="93268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1" name="Shape 18"/>
          <p:cNvSpPr/>
          <p:nvPr/>
        </p:nvSpPr>
        <p:spPr>
          <a:xfrm>
            <a:off x="5669280" y="4215384"/>
            <a:ext cx="274320" cy="932688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2" name="Text 19"/>
          <p:cNvSpPr/>
          <p:nvPr/>
        </p:nvSpPr>
        <p:spPr>
          <a:xfrm>
            <a:off x="6035040" y="4306824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B3F1E"/>
                </a:solidFill>
              </a:rPr>
              <a:t>Pickup Hour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035040" y="469087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R81,290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9144000" y="4471416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16A34A"/>
                </a:solidFill>
              </a:rPr>
              <a:t>11.6%</a:t>
            </a:r>
            <a:endParaRPr lang="en-US" sz="2000" dirty="0"/>
          </a:p>
        </p:txBody>
      </p:sp>
      <p:sp>
        <p:nvSpPr>
          <p:cNvPr id="25" name="Shape 22"/>
          <p:cNvSpPr/>
          <p:nvPr/>
        </p:nvSpPr>
        <p:spPr>
          <a:xfrm>
            <a:off x="5669280" y="5239512"/>
            <a:ext cx="6126480" cy="93268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6" name="Shape 23"/>
          <p:cNvSpPr/>
          <p:nvPr/>
        </p:nvSpPr>
        <p:spPr>
          <a:xfrm>
            <a:off x="5669280" y="5239512"/>
            <a:ext cx="274320" cy="932688"/>
          </a:xfrm>
          <a:prstGeom prst="rect">
            <a:avLst/>
          </a:prstGeom>
          <a:solidFill>
            <a:srgbClr val="E8A85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7" name="Text 24"/>
          <p:cNvSpPr/>
          <p:nvPr/>
        </p:nvSpPr>
        <p:spPr>
          <a:xfrm>
            <a:off x="6035040" y="533095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B3F1E"/>
                </a:solidFill>
              </a:rPr>
              <a:t>Evening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6035040" y="57150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R65,636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9144000" y="5495544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E8A857"/>
                </a:solidFill>
              </a:rPr>
              <a:t>9.4%</a:t>
            </a:r>
            <a:endParaRPr lang="en-US" sz="2000" dirty="0"/>
          </a:p>
        </p:txBody>
      </p:sp>
      <p:sp>
        <p:nvSpPr>
          <p:cNvPr id="30" name="Shape 27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1E0F05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1" name="Text 28"/>
          <p:cNvSpPr/>
          <p:nvPr/>
        </p:nvSpPr>
        <p:spPr>
          <a:xfrm>
            <a:off x="0" y="6601968"/>
            <a:ext cx="1216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2DFC0"/>
                </a:solidFill>
              </a:rPr>
              <a:t>Bright Coffee Shop  |  Business Performance Analysis 2023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0F05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DAY OF WEEK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1143000"/>
          <a:ext cx="7772400" cy="5349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8412480" y="1143000"/>
            <a:ext cx="3429000" cy="5349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6" name="Shape 3"/>
          <p:cNvSpPr/>
          <p:nvPr/>
        </p:nvSpPr>
        <p:spPr>
          <a:xfrm>
            <a:off x="8412480" y="1143000"/>
            <a:ext cx="3429000" cy="109728"/>
          </a:xfrm>
          <a:prstGeom prst="rect">
            <a:avLst/>
          </a:prstGeom>
          <a:solidFill>
            <a:srgbClr val="C8843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7" name="Text 4"/>
          <p:cNvSpPr/>
          <p:nvPr/>
        </p:nvSpPr>
        <p:spPr>
          <a:xfrm>
            <a:off x="8549640" y="1325880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B3F1E"/>
                </a:solidFill>
              </a:rPr>
              <a:t>Day Analysis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549640" y="178308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843E"/>
                </a:solidFill>
              </a:rPr>
              <a:t>Best Day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549640" y="210312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</a:rPr>
              <a:t>Mon — R101,677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549640" y="260604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</a:rPr>
              <a:t>Quietest Day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549640" y="292608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</a:rPr>
              <a:t>Sat — R96,894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549640" y="3383280"/>
            <a:ext cx="3017520" cy="18288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3" name="Text 10"/>
          <p:cNvSpPr/>
          <p:nvPr/>
        </p:nvSpPr>
        <p:spPr>
          <a:xfrm>
            <a:off x="8549640" y="352044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3F1E"/>
                </a:solidFill>
              </a:rPr>
              <a:t>Weekday vs Weekend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549640" y="388620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74151"/>
                </a:solidFill>
              </a:rPr>
              <a:t>Weekday  </a:t>
            </a:r>
            <a:r>
              <a:rPr lang="en-US" sz="1150" dirty="0">
                <a:solidFill>
                  <a:srgbClr val="374151"/>
                </a:solidFill>
              </a:rPr>
              <a:t>R503,588 (72%)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8549640" y="4224528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74151"/>
                </a:solidFill>
              </a:rPr>
              <a:t>Weekend  </a:t>
            </a:r>
            <a:r>
              <a:rPr lang="en-US" sz="1150" dirty="0">
                <a:solidFill>
                  <a:srgbClr val="374151"/>
                </a:solidFill>
              </a:rPr>
              <a:t>R195,225 (28%)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8549640" y="4709160"/>
            <a:ext cx="3017520" cy="18288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7" name="Text 14"/>
          <p:cNvSpPr/>
          <p:nvPr/>
        </p:nvSpPr>
        <p:spPr>
          <a:xfrm>
            <a:off x="8549640" y="4846320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Daily revenue is very stable — all days within R4,800 of each other.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1E0F05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9" name="Text 16"/>
          <p:cNvSpPr/>
          <p:nvPr/>
        </p:nvSpPr>
        <p:spPr>
          <a:xfrm>
            <a:off x="0" y="6601968"/>
            <a:ext cx="1216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2DFC0"/>
                </a:solidFill>
              </a:rPr>
              <a:t>Bright Coffee Shop  |  Business Performance Analysis 2023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0F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4572000"/>
            <a:ext cx="4572000" cy="4572000"/>
          </a:xfrm>
          <a:prstGeom prst="ellipse">
            <a:avLst/>
          </a:prstGeom>
          <a:solidFill>
            <a:srgbClr val="C8843E">
              <a:alpha val="15000"/>
            </a:srgbClr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9601200" y="-1371600"/>
            <a:ext cx="4114800" cy="4114800"/>
          </a:xfrm>
          <a:prstGeom prst="ellipse">
            <a:avLst/>
          </a:prstGeom>
          <a:solidFill>
            <a:srgbClr val="E8A857">
              <a:alpha val="20000"/>
            </a:srgbClr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&amp; RECOMMENDATIONS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24128"/>
            <a:ext cx="11247120" cy="36576"/>
          </a:xfrm>
          <a:prstGeom prst="rect">
            <a:avLst/>
          </a:prstGeom>
          <a:solidFill>
            <a:srgbClr val="C8843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3703320" cy="2240280"/>
          </a:xfrm>
          <a:prstGeom prst="rect">
            <a:avLst/>
          </a:prstGeom>
          <a:solidFill>
            <a:srgbClr val="F5EDE0"/>
          </a:solidFill>
          <a:ln w="10160">
            <a:solidFill>
              <a:srgbClr val="C8843E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Shape 5"/>
          <p:cNvSpPr/>
          <p:nvPr/>
        </p:nvSpPr>
        <p:spPr>
          <a:xfrm>
            <a:off x="365760" y="1280160"/>
            <a:ext cx="566928" cy="2240280"/>
          </a:xfrm>
          <a:prstGeom prst="rect">
            <a:avLst/>
          </a:prstGeom>
          <a:solidFill>
            <a:srgbClr val="C8843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8" name="Text 6"/>
          <p:cNvSpPr/>
          <p:nvPr/>
        </p:nvSpPr>
        <p:spPr>
          <a:xfrm>
            <a:off x="374904" y="214884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1389888"/>
            <a:ext cx="29077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0F05"/>
                </a:solidFill>
              </a:rPr>
              <a:t>Strong Growth Trajectory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51560" y="1901952"/>
            <a:ext cx="2880360" cy="27432"/>
          </a:xfrm>
          <a:prstGeom prst="rect">
            <a:avLst/>
          </a:prstGeom>
          <a:solidFill>
            <a:srgbClr val="E8A85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1" name="Text 9"/>
          <p:cNvSpPr/>
          <p:nvPr/>
        </p:nvSpPr>
        <p:spPr>
          <a:xfrm>
            <a:off x="1051560" y="1993392"/>
            <a:ext cx="290779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7B3F1E"/>
                </a:solidFill>
              </a:rPr>
              <a:t>Revenue more than doubled from Jan (R81K) to Jun (R166K), showing a consistent upward trend. H2 2023 looks very promising.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251960" y="1280160"/>
            <a:ext cx="3703320" cy="2240280"/>
          </a:xfrm>
          <a:prstGeom prst="rect">
            <a:avLst/>
          </a:prstGeom>
          <a:solidFill>
            <a:srgbClr val="F5EDE0"/>
          </a:solidFill>
          <a:ln w="10160">
            <a:solidFill>
              <a:srgbClr val="C8843E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3" name="Shape 11"/>
          <p:cNvSpPr/>
          <p:nvPr/>
        </p:nvSpPr>
        <p:spPr>
          <a:xfrm>
            <a:off x="4251960" y="1280160"/>
            <a:ext cx="566928" cy="2240280"/>
          </a:xfrm>
          <a:prstGeom prst="rect">
            <a:avLst/>
          </a:prstGeom>
          <a:solidFill>
            <a:srgbClr val="C8843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4" name="Text 12"/>
          <p:cNvSpPr/>
          <p:nvPr/>
        </p:nvSpPr>
        <p:spPr>
          <a:xfrm>
            <a:off x="4261104" y="214884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1389888"/>
            <a:ext cx="29077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0F05"/>
                </a:solidFill>
              </a:rPr>
              <a:t>Balanced Store Network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937760" y="1901952"/>
            <a:ext cx="2880360" cy="27432"/>
          </a:xfrm>
          <a:prstGeom prst="rect">
            <a:avLst/>
          </a:prstGeom>
          <a:solidFill>
            <a:srgbClr val="E8A85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7" name="Text 15"/>
          <p:cNvSpPr/>
          <p:nvPr/>
        </p:nvSpPr>
        <p:spPr>
          <a:xfrm>
            <a:off x="4937760" y="1993392"/>
            <a:ext cx="290779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7B3F1E"/>
                </a:solidFill>
              </a:rPr>
              <a:t>All 3 stores perform almost equally (R230K-R237K). This indicates a well-managed, consistent brand experience across locations.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138160" y="1280160"/>
            <a:ext cx="3703320" cy="2240280"/>
          </a:xfrm>
          <a:prstGeom prst="rect">
            <a:avLst/>
          </a:prstGeom>
          <a:solidFill>
            <a:srgbClr val="F5EDE0"/>
          </a:solidFill>
          <a:ln w="10160">
            <a:solidFill>
              <a:srgbClr val="C8843E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9" name="Shape 17"/>
          <p:cNvSpPr/>
          <p:nvPr/>
        </p:nvSpPr>
        <p:spPr>
          <a:xfrm>
            <a:off x="8138160" y="1280160"/>
            <a:ext cx="566928" cy="2240280"/>
          </a:xfrm>
          <a:prstGeom prst="rect">
            <a:avLst/>
          </a:prstGeom>
          <a:solidFill>
            <a:srgbClr val="C8843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0" name="Text 18"/>
          <p:cNvSpPr/>
          <p:nvPr/>
        </p:nvSpPr>
        <p:spPr>
          <a:xfrm>
            <a:off x="8147304" y="214884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823960" y="1389888"/>
            <a:ext cx="29077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0F05"/>
                </a:solidFill>
              </a:rPr>
              <a:t>Espresso Drives Revenue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823960" y="1901952"/>
            <a:ext cx="2880360" cy="27432"/>
          </a:xfrm>
          <a:prstGeom prst="rect">
            <a:avLst/>
          </a:prstGeom>
          <a:solidFill>
            <a:srgbClr val="E8A85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3" name="Text 21"/>
          <p:cNvSpPr/>
          <p:nvPr/>
        </p:nvSpPr>
        <p:spPr>
          <a:xfrm>
            <a:off x="8823960" y="1993392"/>
            <a:ext cx="290779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7B3F1E"/>
                </a:solidFill>
              </a:rPr>
              <a:t>Barista Espresso alone accounts for R91K (13% of all revenue). Investing in barista training and espresso promotions can amplify this.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5760" y="3703320"/>
            <a:ext cx="3703320" cy="2240280"/>
          </a:xfrm>
          <a:prstGeom prst="rect">
            <a:avLst/>
          </a:prstGeom>
          <a:solidFill>
            <a:srgbClr val="F5EDE0"/>
          </a:solidFill>
          <a:ln w="10160">
            <a:solidFill>
              <a:srgbClr val="C8843E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5" name="Shape 23"/>
          <p:cNvSpPr/>
          <p:nvPr/>
        </p:nvSpPr>
        <p:spPr>
          <a:xfrm>
            <a:off x="365760" y="3703320"/>
            <a:ext cx="566928" cy="2240280"/>
          </a:xfrm>
          <a:prstGeom prst="rect">
            <a:avLst/>
          </a:prstGeom>
          <a:solidFill>
            <a:srgbClr val="C8843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6" name="Text 24"/>
          <p:cNvSpPr/>
          <p:nvPr/>
        </p:nvSpPr>
        <p:spPr>
          <a:xfrm>
            <a:off x="374904" y="457200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51560" y="3813048"/>
            <a:ext cx="29077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0F05"/>
                </a:solidFill>
              </a:rPr>
              <a:t>Low-Performers Need Help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051560" y="4325112"/>
            <a:ext cx="2880360" cy="27432"/>
          </a:xfrm>
          <a:prstGeom prst="rect">
            <a:avLst/>
          </a:prstGeom>
          <a:solidFill>
            <a:srgbClr val="E8A85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9" name="Text 27"/>
          <p:cNvSpPr/>
          <p:nvPr/>
        </p:nvSpPr>
        <p:spPr>
          <a:xfrm>
            <a:off x="1051560" y="4416552"/>
            <a:ext cx="290779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7B3F1E"/>
                </a:solidFill>
              </a:rPr>
              <a:t>Green Beans, Green Tea, and Organic Chocolate are underperforming. Bundle deals, sampling events, or menu placement changes are recommended.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251960" y="3703320"/>
            <a:ext cx="3703320" cy="2240280"/>
          </a:xfrm>
          <a:prstGeom prst="rect">
            <a:avLst/>
          </a:prstGeom>
          <a:solidFill>
            <a:srgbClr val="F5EDE0"/>
          </a:solidFill>
          <a:ln w="10160">
            <a:solidFill>
              <a:srgbClr val="C8843E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1" name="Shape 29"/>
          <p:cNvSpPr/>
          <p:nvPr/>
        </p:nvSpPr>
        <p:spPr>
          <a:xfrm>
            <a:off x="4251960" y="3703320"/>
            <a:ext cx="566928" cy="2240280"/>
          </a:xfrm>
          <a:prstGeom prst="rect">
            <a:avLst/>
          </a:prstGeom>
          <a:solidFill>
            <a:srgbClr val="C8843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2" name="Text 30"/>
          <p:cNvSpPr/>
          <p:nvPr/>
        </p:nvSpPr>
        <p:spPr>
          <a:xfrm>
            <a:off x="4261104" y="457200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937760" y="3813048"/>
            <a:ext cx="29077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0F05"/>
                </a:solidFill>
              </a:rPr>
              <a:t>Mid-Day Peak Opportunity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937760" y="4325112"/>
            <a:ext cx="2880360" cy="27432"/>
          </a:xfrm>
          <a:prstGeom prst="rect">
            <a:avLst/>
          </a:prstGeom>
          <a:solidFill>
            <a:srgbClr val="E8A85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5" name="Text 33"/>
          <p:cNvSpPr/>
          <p:nvPr/>
        </p:nvSpPr>
        <p:spPr>
          <a:xfrm>
            <a:off x="4937760" y="4416552"/>
            <a:ext cx="290779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7B3F1E"/>
                </a:solidFill>
              </a:rPr>
              <a:t>Mid-day generates the highest revenue (R220K / 31.5%). Targeted lunch-hour promotions and combo offers can maximise this window further.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138160" y="3703320"/>
            <a:ext cx="3703320" cy="2240280"/>
          </a:xfrm>
          <a:prstGeom prst="rect">
            <a:avLst/>
          </a:prstGeom>
          <a:solidFill>
            <a:srgbClr val="F5EDE0"/>
          </a:solidFill>
          <a:ln w="10160">
            <a:solidFill>
              <a:srgbClr val="C8843E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7" name="Shape 35"/>
          <p:cNvSpPr/>
          <p:nvPr/>
        </p:nvSpPr>
        <p:spPr>
          <a:xfrm>
            <a:off x="8138160" y="3703320"/>
            <a:ext cx="566928" cy="2240280"/>
          </a:xfrm>
          <a:prstGeom prst="rect">
            <a:avLst/>
          </a:prstGeom>
          <a:solidFill>
            <a:srgbClr val="C8843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8" name="Text 36"/>
          <p:cNvSpPr/>
          <p:nvPr/>
        </p:nvSpPr>
        <p:spPr>
          <a:xfrm>
            <a:off x="8147304" y="457200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06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8823960" y="3813048"/>
            <a:ext cx="29077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0F05"/>
                </a:solidFill>
              </a:rPr>
              <a:t>Stable Daily Revenue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8823960" y="4325112"/>
            <a:ext cx="2880360" cy="27432"/>
          </a:xfrm>
          <a:prstGeom prst="rect">
            <a:avLst/>
          </a:prstGeom>
          <a:solidFill>
            <a:srgbClr val="E8A85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1" name="Text 39"/>
          <p:cNvSpPr/>
          <p:nvPr/>
        </p:nvSpPr>
        <p:spPr>
          <a:xfrm>
            <a:off x="8823960" y="4416552"/>
            <a:ext cx="290779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7B3F1E"/>
                </a:solidFill>
              </a:rPr>
              <a:t>Revenue is consistent across all days of the week. Consider weekend loyalty programs to convert the 28% weekend share into a growth driver.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C8843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3" name="Text 41"/>
          <p:cNvSpPr/>
          <p:nvPr/>
        </p:nvSpPr>
        <p:spPr>
          <a:xfrm>
            <a:off x="0" y="6601968"/>
            <a:ext cx="1216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Bright Coffee Shop  |  Business Performance Analysis 2023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0F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880360" y="914400"/>
            <a:ext cx="6400800" cy="6400800"/>
          </a:xfrm>
          <a:prstGeom prst="ellipse">
            <a:avLst/>
          </a:prstGeom>
          <a:solidFill>
            <a:srgbClr val="C8843E">
              <a:alpha val="12000"/>
            </a:srgbClr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3794760" y="1645920"/>
            <a:ext cx="4572000" cy="4572000"/>
          </a:xfrm>
          <a:prstGeom prst="ellipse">
            <a:avLst/>
          </a:prstGeom>
          <a:solidFill>
            <a:srgbClr val="E8A857">
              <a:alpha val="18000"/>
            </a:srgbClr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" name="Text 2"/>
          <p:cNvSpPr/>
          <p:nvPr/>
        </p:nvSpPr>
        <p:spPr>
          <a:xfrm>
            <a:off x="0" y="1645920"/>
            <a:ext cx="12161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dirty="0">
                <a:solidFill>
                  <a:srgbClr val="000000"/>
                </a:solidFill>
              </a:rPr>
              <a:t>☕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0" y="3017520"/>
            <a:ext cx="1216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0" y="3886200"/>
            <a:ext cx="1216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E8A857"/>
                </a:solidFill>
              </a:rPr>
              <a:t>Fuelling great performance, one cup at a time.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251960" y="4572000"/>
            <a:ext cx="3657600" cy="45720"/>
          </a:xfrm>
          <a:prstGeom prst="rect">
            <a:avLst/>
          </a:prstGeom>
          <a:solidFill>
            <a:srgbClr val="C8843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8" name="Text 6"/>
          <p:cNvSpPr/>
          <p:nvPr/>
        </p:nvSpPr>
        <p:spPr>
          <a:xfrm>
            <a:off x="0" y="4800600"/>
            <a:ext cx="1216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2DFC0"/>
                </a:solidFill>
              </a:rPr>
              <a:t>Total Revenue H1 2023  ·  R698,812  ·  214,470 Transactions  ·  3 Locations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C8843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0" name="Text 8"/>
          <p:cNvSpPr/>
          <p:nvPr/>
        </p:nvSpPr>
        <p:spPr>
          <a:xfrm>
            <a:off x="0" y="6601968"/>
            <a:ext cx="1216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Bright Coffee Shop  |  Business Performance Analysis 2023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584</Words>
  <Application>Microsoft Office PowerPoint</Application>
  <PresentationFormat>Widescreen</PresentationFormat>
  <Paragraphs>135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Bright Coffee Shop Analysis</dc:title>
  <dc:subject>PptxGenJS Presentation</dc:subject>
  <dc:creator>Claude Cowork</dc:creator>
  <cp:lastModifiedBy>Tsatsi Letsoara</cp:lastModifiedBy>
  <cp:revision>2</cp:revision>
  <dcterms:created xsi:type="dcterms:W3CDTF">2026-03-30T20:35:05Z</dcterms:created>
  <dcterms:modified xsi:type="dcterms:W3CDTF">2026-03-30T20:58:24Z</dcterms:modified>
</cp:coreProperties>
</file>