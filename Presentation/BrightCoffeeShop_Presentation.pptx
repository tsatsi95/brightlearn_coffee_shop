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C8843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7B3F1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81678</c:v>
                </c:pt>
                <c:pt idx="1">
                  <c:v>76145</c:v>
                </c:pt>
                <c:pt idx="2">
                  <c:v>98835</c:v>
                </c:pt>
                <c:pt idx="3">
                  <c:v>118941</c:v>
                </c:pt>
                <c:pt idx="4">
                  <c:v>156728</c:v>
                </c:pt>
                <c:pt idx="5">
                  <c:v>166486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7B3F1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Astoria</c:v>
                </c:pt>
              </c:strCache>
            </c:strRef>
          </c:tx>
          <c:spPr>
            <a:solidFill>
              <a:srgbClr val="C8843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Astoria</c:v>
                  </c:pt>
                  <c:pt idx="1">
                    <c:v>Hell's Kitchen</c:v>
                  </c:pt>
                  <c:pt idx="2">
                    <c:v>Lower Manhattan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232244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Hell's Kitchen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Astoria</c:v>
                  </c:pt>
                  <c:pt idx="1">
                    <c:v>Hell's Kitchen</c:v>
                  </c:pt>
                  <c:pt idx="2">
                    <c:v>Lower Manhattan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236511</c:v>
                </c:pt>
                <c:pt idx="2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Lower Manhattan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Astoria</c:v>
                  </c:pt>
                  <c:pt idx="1">
                    <c:v>Hell's Kitchen</c:v>
                  </c:pt>
                  <c:pt idx="2">
                    <c:v>Lower Manhattan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230057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(ZAR)</c:v>
                </c:pt>
              </c:strCache>
            </c:strRef>
          </c:tx>
          <c:spPr>
            <a:solidFill>
              <a:srgbClr val="6B3F1A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6B3F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E2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0522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A85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8843E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Brewed Black Tea</c:v>
                  </c:pt>
                  <c:pt idx="1">
                    <c:v>Gourmet Brewed Coffee</c:v>
                  </c:pt>
                  <c:pt idx="2">
                    <c:v>Hot Chocolate</c:v>
                  </c:pt>
                  <c:pt idx="3">
                    <c:v>Brewed Chai Tea</c:v>
                  </c:pt>
                  <c:pt idx="4">
                    <c:v>Barista Espresso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47932</c:v>
                </c:pt>
                <c:pt idx="1">
                  <c:v>70035</c:v>
                </c:pt>
                <c:pt idx="2">
                  <c:v>72416</c:v>
                </c:pt>
                <c:pt idx="3">
                  <c:v>77082</c:v>
                </c:pt>
                <c:pt idx="4">
                  <c:v>91406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(ZAR)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55A1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8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8843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A857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Green Beans</c:v>
                  </c:pt>
                  <c:pt idx="1">
                    <c:v>Green Tea</c:v>
                  </c:pt>
                  <c:pt idx="2">
                    <c:v>Organic Chocolate</c:v>
                  </c:pt>
                  <c:pt idx="3">
                    <c:v>Sugar Free Syrup</c:v>
                  </c:pt>
                  <c:pt idx="4">
                    <c:v>Black Tea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1340</c:v>
                </c:pt>
                <c:pt idx="1">
                  <c:v>1471</c:v>
                </c:pt>
                <c:pt idx="2">
                  <c:v>1680</c:v>
                </c:pt>
                <c:pt idx="3">
                  <c:v>2324</c:v>
                </c:pt>
                <c:pt idx="4">
                  <c:v>2712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by Time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563EB"/>
              </a:solidFill>
              <a:effectLst/>
            </c:spPr>
          </c:dPt>
          <c:dPt>
            <c:idx val="1"/>
            <c:bubble3D val="0"/>
            <c:spPr>
              <a:solidFill>
                <a:srgbClr val="C8843E"/>
              </a:solidFill>
              <a:effectLst/>
            </c:spPr>
          </c:dPt>
          <c:dPt>
            <c:idx val="2"/>
            <c:bubble3D val="0"/>
            <c:spPr>
              <a:solidFill>
                <a:srgbClr val="7C3AED"/>
              </a:solidFill>
              <a:effectLst/>
            </c:spPr>
          </c:dPt>
          <c:dPt>
            <c:idx val="3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bubble3D val="0"/>
            <c:spPr>
              <a:solidFill>
                <a:srgbClr val="E8A85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Rush Hour</c:v>
                </c:pt>
                <c:pt idx="1">
                  <c:v>Mid Day</c:v>
                </c:pt>
                <c:pt idx="2">
                  <c:v>Afternoon</c:v>
                </c:pt>
                <c:pt idx="3">
                  <c:v>Pickup Hour</c:v>
                </c:pt>
                <c:pt idx="4">
                  <c:v>Evening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168127</c:v>
                </c:pt>
                <c:pt idx="1">
                  <c:v>220162</c:v>
                </c:pt>
                <c:pt idx="2">
                  <c:v>163598</c:v>
                </c:pt>
                <c:pt idx="3">
                  <c:v>81290</c:v>
                </c:pt>
                <c:pt idx="4">
                  <c:v>65636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74151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8F0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C8843E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884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843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8843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8843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8843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A857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0522D"/>
              </a:solidFill>
              <a:effectLst/>
            </c:spPr>
          </c:dPt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Sun</c:v>
                  </c:pt>
                  <c:pt idx="1">
                    <c:v>Mon</c:v>
                  </c:pt>
                  <c:pt idx="2">
                    <c:v>Tue</c:v>
                  </c:pt>
                  <c:pt idx="3">
                    <c:v>Wed</c:v>
                  </c:pt>
                  <c:pt idx="4">
                    <c:v>Thu</c:v>
                  </c:pt>
                  <c:pt idx="5">
                    <c:v>Fri</c:v>
                  </c:pt>
                  <c:pt idx="6">
                    <c:v>Sat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98330</c:v>
                </c:pt>
                <c:pt idx="1">
                  <c:v>101677</c:v>
                </c:pt>
                <c:pt idx="2">
                  <c:v>99456</c:v>
                </c:pt>
                <c:pt idx="3">
                  <c:v>100314</c:v>
                </c:pt>
                <c:pt idx="4">
                  <c:v>100768</c:v>
                </c:pt>
                <c:pt idx="5">
                  <c:v>101373</c:v>
                </c:pt>
                <c:pt idx="6">
                  <c:v>96894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0F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463040"/>
            <a:ext cx="5029200" cy="5029200"/>
          </a:xfrm>
          <a:prstGeom prst="ellipse">
            <a:avLst/>
          </a:prstGeom>
          <a:solidFill>
            <a:srgbClr val="C8843E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235440" y="-822960"/>
            <a:ext cx="3474720" cy="3474720"/>
          </a:xfrm>
          <a:prstGeom prst="ellipse">
            <a:avLst/>
          </a:prstGeom>
          <a:solidFill>
            <a:srgbClr val="E8A857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309360"/>
            <a:ext cx="12161520" cy="548640"/>
          </a:xfrm>
          <a:prstGeom prst="rect">
            <a:avLst/>
          </a:prstGeom>
          <a:solidFill>
            <a:srgbClr val="C8843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54864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☕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 COFFEE SHOP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Performance Analysis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65760" y="3246120"/>
            <a:ext cx="2011680" cy="45720"/>
          </a:xfrm>
          <a:prstGeom prst="rect">
            <a:avLst/>
          </a:prstGeom>
          <a:solidFill>
            <a:srgbClr val="C8843E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40156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2D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– June 2023  |  3 Store Locations  |  All Prices in ZAR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0" y="6446520"/>
            <a:ext cx="1216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the Analytics Team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E0F0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METRICS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0" y="30175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E8A857"/>
                </a:solidFill>
              </a:rPr>
              <a:t>Jan – Jun 2023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80160"/>
            <a:ext cx="265176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80160"/>
            <a:ext cx="2651760" cy="64008"/>
          </a:xfrm>
          <a:prstGeom prst="rect">
            <a:avLst/>
          </a:prstGeom>
          <a:solidFill>
            <a:srgbClr val="C8843E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444752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R698,812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280160"/>
            <a:ext cx="265176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280160"/>
            <a:ext cx="2651760" cy="6400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1444752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214,470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Transactions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280160"/>
            <a:ext cx="265176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280160"/>
            <a:ext cx="265176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444752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R3,263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126480" y="202996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Daily Revenue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69680" y="1280160"/>
            <a:ext cx="265176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869680" y="1280160"/>
            <a:ext cx="2651760" cy="6400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9" name="Text 17"/>
          <p:cNvSpPr/>
          <p:nvPr/>
        </p:nvSpPr>
        <p:spPr>
          <a:xfrm>
            <a:off x="9006840" y="1444752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Stores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961120" y="202996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Locations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28346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3F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Revenue Trend (ZAR)</a:t>
            </a:r>
            <a:endParaRPr lang="en-US" sz="14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365760" y="3218688"/>
          <a:ext cx="74980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Shape 20"/>
          <p:cNvSpPr/>
          <p:nvPr/>
        </p:nvSpPr>
        <p:spPr>
          <a:xfrm>
            <a:off x="8229600" y="3218688"/>
            <a:ext cx="3566160" cy="1508760"/>
          </a:xfrm>
          <a:prstGeom prst="rect">
            <a:avLst/>
          </a:prstGeom>
          <a:solidFill>
            <a:srgbClr val="E8F5E9"/>
          </a:solidFill>
          <a:ln w="6350">
            <a:solidFill>
              <a:srgbClr val="C3E6C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8229600" y="33832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</a:rPr>
              <a:t>↑ 104%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8229600" y="4005072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Revenue growth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Jan to Jun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229600" y="4892040"/>
            <a:ext cx="3566160" cy="1508760"/>
          </a:xfrm>
          <a:prstGeom prst="rect">
            <a:avLst/>
          </a:prstGeom>
          <a:solidFill>
            <a:srgbClr val="FFF8E1"/>
          </a:solidFill>
          <a:ln w="6350">
            <a:solidFill>
              <a:srgbClr val="FFE08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8229600" y="5047488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843E"/>
                </a:solidFill>
              </a:rPr>
              <a:t>Jun 2023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8229600" y="553212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Best performing month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R166,486 revenue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0F05"/>
          </a:solidFill>
          <a:ln/>
        </p:spPr>
      </p:sp>
      <p:sp>
        <p:nvSpPr>
          <p:cNvPr id="30" name="Text 27"/>
          <p:cNvSpPr/>
          <p:nvPr/>
        </p:nvSpPr>
        <p:spPr>
          <a:xfrm>
            <a:off x="0" y="6601968"/>
            <a:ext cx="1216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DFC0"/>
                </a:solidFill>
              </a:rPr>
              <a:t>Bright Coffee Shop  |  Business Performance Analysis 2023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E0F0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PERFORMANCE COMPARISON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56616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3566160" cy="109728"/>
          </a:xfrm>
          <a:prstGeom prst="rect">
            <a:avLst/>
          </a:prstGeom>
          <a:solidFill>
            <a:srgbClr val="C8843E"/>
          </a:solidFill>
          <a:ln/>
        </p:spPr>
      </p:sp>
      <p:sp>
        <p:nvSpPr>
          <p:cNvPr id="6" name="Shape 4"/>
          <p:cNvSpPr/>
          <p:nvPr/>
        </p:nvSpPr>
        <p:spPr>
          <a:xfrm>
            <a:off x="2011680" y="1335024"/>
            <a:ext cx="457200" cy="457200"/>
          </a:xfrm>
          <a:prstGeom prst="ellipse">
            <a:avLst/>
          </a:prstGeom>
          <a:solidFill>
            <a:srgbClr val="C8843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84708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3F1E"/>
                </a:solidFill>
              </a:rPr>
              <a:t>Astoria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231136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843E"/>
                </a:solidFill>
              </a:rPr>
              <a:t>R232,244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33.2% of total revenue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15968" y="1188720"/>
            <a:ext cx="356616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15968" y="1188720"/>
            <a:ext cx="3566160" cy="10972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Shape 10"/>
          <p:cNvSpPr/>
          <p:nvPr/>
        </p:nvSpPr>
        <p:spPr>
          <a:xfrm>
            <a:off x="5870448" y="1335024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4407408" y="184708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3F1E"/>
                </a:solidFill>
              </a:rPr>
              <a:t>Hell's Kitchen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07408" y="2231136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</a:rPr>
              <a:t>R236,511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407408" y="27432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33.8% of total revenue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74736" y="1188720"/>
            <a:ext cx="3566160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74736" y="1188720"/>
            <a:ext cx="3566160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Shape 16"/>
          <p:cNvSpPr/>
          <p:nvPr/>
        </p:nvSpPr>
        <p:spPr>
          <a:xfrm>
            <a:off x="9729216" y="1335024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/>
          <p:nvPr/>
        </p:nvSpPr>
        <p:spPr>
          <a:xfrm>
            <a:off x="8266176" y="184708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3F1E"/>
                </a:solidFill>
              </a:rPr>
              <a:t>Lower Manhattan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66176" y="2231136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7C3AED"/>
                </a:solidFill>
              </a:rPr>
              <a:t>R230,057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266176" y="27432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32.9% of total revenue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61188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3F1E"/>
                </a:solidFill>
              </a:rPr>
              <a:t>Revenue by Store Location</a:t>
            </a:r>
            <a:endParaRPr lang="en-US" sz="14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365760" y="3977640"/>
          <a:ext cx="777240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Shape 21"/>
          <p:cNvSpPr/>
          <p:nvPr/>
        </p:nvSpPr>
        <p:spPr>
          <a:xfrm>
            <a:off x="8412480" y="3611880"/>
            <a:ext cx="3383280" cy="2880360"/>
          </a:xfrm>
          <a:prstGeom prst="rect">
            <a:avLst/>
          </a:prstGeom>
          <a:solidFill>
            <a:srgbClr val="FFF3E0"/>
          </a:solidFill>
          <a:ln w="6350">
            <a:solidFill>
              <a:srgbClr val="FFCC80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8549640" y="374904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843E"/>
                </a:solidFill>
              </a:rPr>
              <a:t>Store Insight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549640" y="4160520"/>
            <a:ext cx="3108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</a:rPr>
              <a:t>• Hell's Kitchen leads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</a:rPr>
              <a:t>  with R236,511
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</a:rPr>
              <a:t>• All 3 stores are very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</a:rPr>
              <a:t>  evenly balanced
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</a:rPr>
              <a:t>• Lowest variance of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</a:rPr>
              <a:t>  only R6,454 between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374151"/>
                </a:solidFill>
              </a:rPr>
              <a:t>  best &amp; worst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0F05"/>
          </a:solidFill>
          <a:ln/>
        </p:spPr>
      </p:sp>
      <p:sp>
        <p:nvSpPr>
          <p:cNvPr id="28" name="Text 25"/>
          <p:cNvSpPr/>
          <p:nvPr/>
        </p:nvSpPr>
        <p:spPr>
          <a:xfrm>
            <a:off x="0" y="6601968"/>
            <a:ext cx="1216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DFC0"/>
                </a:solidFill>
              </a:rPr>
              <a:t>Bright Coffee Shop  |  Business Performance Analysis 2023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E0F0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BEST-SELLING PRODUCTS</a:t>
            </a:r>
            <a:endParaRPr lang="en-US" sz="2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43000"/>
          <a:ext cx="7498080" cy="5303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143000"/>
            <a:ext cx="35661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0" y="1143000"/>
            <a:ext cx="347472" cy="960120"/>
          </a:xfrm>
          <a:prstGeom prst="rect">
            <a:avLst/>
          </a:prstGeom>
          <a:solidFill>
            <a:srgbClr val="C8843E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0" y="1371600"/>
            <a:ext cx="34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#1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41080" y="121615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B3F1E"/>
                </a:solidFill>
              </a:rPr>
              <a:t>Barista Espresso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641080" y="160020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R91,406  |  24,943 units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229600" y="2194560"/>
            <a:ext cx="35661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0" y="2194560"/>
            <a:ext cx="347472" cy="960120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0" y="2423160"/>
            <a:ext cx="34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#2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41080" y="226771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B3F1E"/>
                </a:solidFill>
              </a:rPr>
              <a:t>Brewed Chai Tea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641080" y="26517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R77,082  |  26,250 units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229600" y="3246120"/>
            <a:ext cx="35661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29600" y="3246120"/>
            <a:ext cx="347472" cy="960120"/>
          </a:xfrm>
          <a:prstGeom prst="rect">
            <a:avLst/>
          </a:prstGeom>
          <a:solidFill>
            <a:srgbClr val="A0522D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0" y="3474720"/>
            <a:ext cx="34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#3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641080" y="331927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B3F1E"/>
                </a:solidFill>
              </a:rPr>
              <a:t>Hot Chocolate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641080" y="370332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R72,416  |  17,457 units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0" y="4297680"/>
            <a:ext cx="35661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229600" y="4297680"/>
            <a:ext cx="347472" cy="960120"/>
          </a:xfrm>
          <a:prstGeom prst="rect">
            <a:avLst/>
          </a:prstGeom>
          <a:solidFill>
            <a:srgbClr val="8B5E2F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0" y="4526280"/>
            <a:ext cx="34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#4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641080" y="437083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B3F1E"/>
                </a:solidFill>
              </a:rPr>
              <a:t>Gourmet Brewed Coffee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8641080" y="475488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R70,035  |  25,973 units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8229600" y="5349240"/>
            <a:ext cx="35661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229600" y="5349240"/>
            <a:ext cx="347472" cy="960120"/>
          </a:xfrm>
          <a:prstGeom prst="rect">
            <a:avLst/>
          </a:prstGeom>
          <a:solidFill>
            <a:srgbClr val="6B3F1A"/>
          </a:solidFill>
          <a:ln/>
        </p:spPr>
      </p:sp>
      <p:sp>
        <p:nvSpPr>
          <p:cNvPr id="27" name="Text 24"/>
          <p:cNvSpPr/>
          <p:nvPr/>
        </p:nvSpPr>
        <p:spPr>
          <a:xfrm>
            <a:off x="8229600" y="5577840"/>
            <a:ext cx="3474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#5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8641080" y="542239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B3F1E"/>
                </a:solidFill>
              </a:rPr>
              <a:t>Brewed Black Tea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8641080" y="580644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R47,932  |  17,462 units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0F05"/>
          </a:solidFill>
          <a:ln/>
        </p:spPr>
      </p:sp>
      <p:sp>
        <p:nvSpPr>
          <p:cNvPr id="31" name="Text 28"/>
          <p:cNvSpPr/>
          <p:nvPr/>
        </p:nvSpPr>
        <p:spPr>
          <a:xfrm>
            <a:off x="0" y="6601968"/>
            <a:ext cx="1216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DFC0"/>
                </a:solidFill>
              </a:rPr>
              <a:t>Bright Coffee Shop  |  Business Performance Analysis 2023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E0F0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SELLING PRODUCTS</a:t>
            </a:r>
            <a:endParaRPr lang="en-US" sz="2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7498080" cy="5212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29600" y="1188720"/>
            <a:ext cx="3566160" cy="3383280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321040" y="132588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Attention Required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321040" y="178308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</a:rPr>
              <a:t>• Green Beans generated
  only R1,340 total
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</a:rPr>
              <a:t>• These 5 products
  together = just 1.3%
  of total revenue
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</a:rPr>
              <a:t>• Consider bundling or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</a:rPr>
              <a:t>  promotions to boost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</a:rPr>
              <a:t>  visibility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0" y="4754880"/>
            <a:ext cx="3566160" cy="1691640"/>
          </a:xfrm>
          <a:prstGeom prst="rect">
            <a:avLst/>
          </a:prstGeom>
          <a:solidFill>
            <a:srgbClr val="FFFBEB"/>
          </a:solidFill>
          <a:ln w="6350">
            <a:solidFill>
              <a:srgbClr val="FDE68A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321040" y="489204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843E"/>
                </a:solidFill>
              </a:rPr>
              <a:t>Quick Win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321040" y="5303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</a:rPr>
              <a:t>Pair Green Tea &amp; Green Beans with popular items to cross-sell and boost their revenue.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0F05"/>
          </a:solidFill>
          <a:ln/>
        </p:spPr>
      </p:sp>
      <p:sp>
        <p:nvSpPr>
          <p:cNvPr id="12" name="Text 9"/>
          <p:cNvSpPr/>
          <p:nvPr/>
        </p:nvSpPr>
        <p:spPr>
          <a:xfrm>
            <a:off x="0" y="6601968"/>
            <a:ext cx="1216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DFC0"/>
                </a:solidFill>
              </a:rPr>
              <a:t>Bright Coffee Shop  |  Business Performance Analysis 2023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E0F0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TIME OF DAY</a:t>
            </a:r>
            <a:endParaRPr lang="en-US" sz="2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97280"/>
          <a:ext cx="5029200" cy="5303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669280" y="1143000"/>
            <a:ext cx="6126480" cy="93268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669280" y="1143000"/>
            <a:ext cx="274320" cy="93268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4"/>
          <p:cNvSpPr/>
          <p:nvPr/>
        </p:nvSpPr>
        <p:spPr>
          <a:xfrm>
            <a:off x="6035040" y="12344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1E"/>
                </a:solidFill>
              </a:rPr>
              <a:t>Rush Hour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035040" y="16184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R168,127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144000" y="139903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563EB"/>
                </a:solidFill>
              </a:rPr>
              <a:t>24.1%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669280" y="2167128"/>
            <a:ext cx="6126480" cy="93268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669280" y="2167128"/>
            <a:ext cx="274320" cy="932688"/>
          </a:xfrm>
          <a:prstGeom prst="rect">
            <a:avLst/>
          </a:prstGeom>
          <a:solidFill>
            <a:srgbClr val="C8843E"/>
          </a:solidFill>
          <a:ln/>
        </p:spPr>
      </p:sp>
      <p:sp>
        <p:nvSpPr>
          <p:cNvPr id="12" name="Text 9"/>
          <p:cNvSpPr/>
          <p:nvPr/>
        </p:nvSpPr>
        <p:spPr>
          <a:xfrm>
            <a:off x="6035040" y="22585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1E"/>
                </a:solidFill>
              </a:rPr>
              <a:t>Mid Day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035040" y="264261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R220,162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9144000" y="24231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8843E"/>
                </a:solidFill>
              </a:rPr>
              <a:t>31.5%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669280" y="3191256"/>
            <a:ext cx="6126480" cy="93268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0" y="3191256"/>
            <a:ext cx="274320" cy="93268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7" name="Text 14"/>
          <p:cNvSpPr/>
          <p:nvPr/>
        </p:nvSpPr>
        <p:spPr>
          <a:xfrm>
            <a:off x="6035040" y="328269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1E"/>
                </a:solidFill>
              </a:rPr>
              <a:t>Afternoon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035040" y="366674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R163,598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144000" y="344728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C3AED"/>
                </a:solidFill>
              </a:rPr>
              <a:t>23.4%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669280" y="4215384"/>
            <a:ext cx="6126480" cy="93268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669280" y="4215384"/>
            <a:ext cx="274320" cy="932688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2" name="Text 19"/>
          <p:cNvSpPr/>
          <p:nvPr/>
        </p:nvSpPr>
        <p:spPr>
          <a:xfrm>
            <a:off x="6035040" y="430682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1E"/>
                </a:solidFill>
              </a:rPr>
              <a:t>Pickup Hour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035040" y="469087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R81,290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9144000" y="447141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6A34A"/>
                </a:solidFill>
              </a:rPr>
              <a:t>11.6%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5669280" y="5239512"/>
            <a:ext cx="6126480" cy="932688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669280" y="5239512"/>
            <a:ext cx="274320" cy="932688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7" name="Text 24"/>
          <p:cNvSpPr/>
          <p:nvPr/>
        </p:nvSpPr>
        <p:spPr>
          <a:xfrm>
            <a:off x="6035040" y="533095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1E"/>
                </a:solidFill>
              </a:rPr>
              <a:t>Evening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57150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R65,636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9144000" y="549554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8A857"/>
                </a:solidFill>
              </a:rPr>
              <a:t>9.4%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0F05"/>
          </a:solidFill>
          <a:ln/>
        </p:spPr>
      </p:sp>
      <p:sp>
        <p:nvSpPr>
          <p:cNvPr id="31" name="Text 28"/>
          <p:cNvSpPr/>
          <p:nvPr/>
        </p:nvSpPr>
        <p:spPr>
          <a:xfrm>
            <a:off x="0" y="6601968"/>
            <a:ext cx="1216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DFC0"/>
                </a:solidFill>
              </a:rPr>
              <a:t>Bright Coffee Shop  |  Business Performance Analysis 2023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E0F0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DAY OF WEEK</a:t>
            </a:r>
            <a:endParaRPr lang="en-US" sz="2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43000"/>
          <a:ext cx="7772400" cy="5349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412480" y="1143000"/>
            <a:ext cx="3429000" cy="53492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412480" y="1143000"/>
            <a:ext cx="3429000" cy="109728"/>
          </a:xfrm>
          <a:prstGeom prst="rect">
            <a:avLst/>
          </a:prstGeom>
          <a:solidFill>
            <a:srgbClr val="C8843E"/>
          </a:solidFill>
          <a:ln/>
        </p:spPr>
      </p:sp>
      <p:sp>
        <p:nvSpPr>
          <p:cNvPr id="7" name="Text 4"/>
          <p:cNvSpPr/>
          <p:nvPr/>
        </p:nvSpPr>
        <p:spPr>
          <a:xfrm>
            <a:off x="8549640" y="1325880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3F1E"/>
                </a:solidFill>
              </a:rPr>
              <a:t>Day Analysis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549640" y="17830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843E"/>
                </a:solidFill>
              </a:rPr>
              <a:t>Best Day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549640" y="210312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Mon — R101,677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54964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Quietest Day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549640" y="29260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Sat — R96,894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549640" y="3383280"/>
            <a:ext cx="30175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3" name="Text 10"/>
          <p:cNvSpPr/>
          <p:nvPr/>
        </p:nvSpPr>
        <p:spPr>
          <a:xfrm>
            <a:off x="8549640" y="35204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3F1E"/>
                </a:solidFill>
              </a:rPr>
              <a:t>Weekday vs Weekend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549640" y="388620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74151"/>
                </a:solidFill>
              </a:rPr>
              <a:t>Weekday  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</a:rPr>
              <a:t>R503,588 (72%)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549640" y="4224528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74151"/>
                </a:solidFill>
              </a:rPr>
              <a:t>Weekend  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</a:rPr>
              <a:t>R195,225 (28%)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549640" y="4709160"/>
            <a:ext cx="3017520" cy="18288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7" name="Text 14"/>
          <p:cNvSpPr/>
          <p:nvPr/>
        </p:nvSpPr>
        <p:spPr>
          <a:xfrm>
            <a:off x="8549640" y="484632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Daily revenue is very stable — all days within R4,800 of each other.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0F05"/>
          </a:solidFill>
          <a:ln/>
        </p:spPr>
      </p:sp>
      <p:sp>
        <p:nvSpPr>
          <p:cNvPr id="19" name="Text 16"/>
          <p:cNvSpPr/>
          <p:nvPr/>
        </p:nvSpPr>
        <p:spPr>
          <a:xfrm>
            <a:off x="0" y="6601968"/>
            <a:ext cx="1216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DFC0"/>
                </a:solidFill>
              </a:rPr>
              <a:t>Bright Coffee Shop  |  Business Performance Analysis 2023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0F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4572000"/>
            <a:ext cx="4572000" cy="4572000"/>
          </a:xfrm>
          <a:prstGeom prst="ellipse">
            <a:avLst/>
          </a:prstGeom>
          <a:solidFill>
            <a:srgbClr val="C8843E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1371600"/>
            <a:ext cx="4114800" cy="4114800"/>
          </a:xfrm>
          <a:prstGeom prst="ellipse">
            <a:avLst/>
          </a:prstGeom>
          <a:solidFill>
            <a:srgbClr val="E8A857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 &amp; RECOMMENDATIONS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24128"/>
            <a:ext cx="11247120" cy="36576"/>
          </a:xfrm>
          <a:prstGeom prst="rect">
            <a:avLst/>
          </a:prstGeom>
          <a:solidFill>
            <a:srgbClr val="C8843E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280160"/>
            <a:ext cx="3703320" cy="2240280"/>
          </a:xfrm>
          <a:prstGeom prst="rect">
            <a:avLst/>
          </a:prstGeom>
          <a:solidFill>
            <a:srgbClr val="F5EDE0"/>
          </a:solidFill>
          <a:ln w="10160">
            <a:solidFill>
              <a:srgbClr val="C88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280160"/>
            <a:ext cx="566928" cy="2240280"/>
          </a:xfrm>
          <a:prstGeom prst="rect">
            <a:avLst/>
          </a:prstGeom>
          <a:solidFill>
            <a:srgbClr val="C8843E"/>
          </a:solidFill>
          <a:ln/>
        </p:spPr>
      </p:sp>
      <p:sp>
        <p:nvSpPr>
          <p:cNvPr id="8" name="Text 6"/>
          <p:cNvSpPr/>
          <p:nvPr/>
        </p:nvSpPr>
        <p:spPr>
          <a:xfrm>
            <a:off x="374904" y="21488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389888"/>
            <a:ext cx="29077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0F05"/>
                </a:solidFill>
              </a:rPr>
              <a:t>Strong Growth Trajectory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51560" y="1901952"/>
            <a:ext cx="2880360" cy="27432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1993392"/>
            <a:ext cx="290779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B3F1E"/>
                </a:solidFill>
              </a:rPr>
              <a:t>Revenue more than doubled from Jan (R81K) to Jun (R166K), showing a consistent upward trend. H2 2023 looks very promising.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51960" y="1280160"/>
            <a:ext cx="3703320" cy="2240280"/>
          </a:xfrm>
          <a:prstGeom prst="rect">
            <a:avLst/>
          </a:prstGeom>
          <a:solidFill>
            <a:srgbClr val="F5EDE0"/>
          </a:solidFill>
          <a:ln w="10160">
            <a:solidFill>
              <a:srgbClr val="C884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51960" y="1280160"/>
            <a:ext cx="566928" cy="2240280"/>
          </a:xfrm>
          <a:prstGeom prst="rect">
            <a:avLst/>
          </a:prstGeom>
          <a:solidFill>
            <a:srgbClr val="C8843E"/>
          </a:solidFill>
          <a:ln/>
        </p:spPr>
      </p:sp>
      <p:sp>
        <p:nvSpPr>
          <p:cNvPr id="14" name="Text 12"/>
          <p:cNvSpPr/>
          <p:nvPr/>
        </p:nvSpPr>
        <p:spPr>
          <a:xfrm>
            <a:off x="4261104" y="21488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389888"/>
            <a:ext cx="29077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0F05"/>
                </a:solidFill>
              </a:rPr>
              <a:t>Balanced Store Network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37760" y="1901952"/>
            <a:ext cx="2880360" cy="27432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17" name="Text 15"/>
          <p:cNvSpPr/>
          <p:nvPr/>
        </p:nvSpPr>
        <p:spPr>
          <a:xfrm>
            <a:off x="4937760" y="1993392"/>
            <a:ext cx="290779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B3F1E"/>
                </a:solidFill>
              </a:rPr>
              <a:t>All 3 stores perform almost equally (R230K-R237K). This indicates a well-managed, consistent brand experience across locations.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38160" y="1280160"/>
            <a:ext cx="3703320" cy="2240280"/>
          </a:xfrm>
          <a:prstGeom prst="rect">
            <a:avLst/>
          </a:prstGeom>
          <a:solidFill>
            <a:srgbClr val="F5EDE0"/>
          </a:solidFill>
          <a:ln w="10160">
            <a:solidFill>
              <a:srgbClr val="C8843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1280160"/>
            <a:ext cx="566928" cy="2240280"/>
          </a:xfrm>
          <a:prstGeom prst="rect">
            <a:avLst/>
          </a:prstGeom>
          <a:solidFill>
            <a:srgbClr val="C8843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7304" y="214884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23960" y="1389888"/>
            <a:ext cx="29077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0F05"/>
                </a:solidFill>
              </a:rPr>
              <a:t>Espresso Drives Revenue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823960" y="1901952"/>
            <a:ext cx="2880360" cy="27432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3" name="Text 21"/>
          <p:cNvSpPr/>
          <p:nvPr/>
        </p:nvSpPr>
        <p:spPr>
          <a:xfrm>
            <a:off x="8823960" y="1993392"/>
            <a:ext cx="290779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B3F1E"/>
                </a:solidFill>
              </a:rPr>
              <a:t>Barista Espresso alone accounts for R91K (13% of all revenue). Investing in barista training and espresso promotions can amplify this.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65760" y="3703320"/>
            <a:ext cx="3703320" cy="2240280"/>
          </a:xfrm>
          <a:prstGeom prst="rect">
            <a:avLst/>
          </a:prstGeom>
          <a:solidFill>
            <a:srgbClr val="F5EDE0"/>
          </a:solidFill>
          <a:ln w="10160">
            <a:solidFill>
              <a:srgbClr val="C8843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3703320"/>
            <a:ext cx="566928" cy="2240280"/>
          </a:xfrm>
          <a:prstGeom prst="rect">
            <a:avLst/>
          </a:prstGeom>
          <a:solidFill>
            <a:srgbClr val="C8843E"/>
          </a:solidFill>
          <a:ln/>
        </p:spPr>
      </p:sp>
      <p:sp>
        <p:nvSpPr>
          <p:cNvPr id="26" name="Text 24"/>
          <p:cNvSpPr/>
          <p:nvPr/>
        </p:nvSpPr>
        <p:spPr>
          <a:xfrm>
            <a:off x="374904" y="45720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51560" y="3813048"/>
            <a:ext cx="29077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0F05"/>
                </a:solidFill>
              </a:rPr>
              <a:t>Low-Performers Need Help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051560" y="4325112"/>
            <a:ext cx="2880360" cy="27432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" y="4416552"/>
            <a:ext cx="290779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B3F1E"/>
                </a:solidFill>
              </a:rPr>
              <a:t>Green Beans, Green Tea, and Organic Chocolate are underperforming. Bundle deals, sampling events, or menu placement changes are recommended.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251960" y="3703320"/>
            <a:ext cx="3703320" cy="2240280"/>
          </a:xfrm>
          <a:prstGeom prst="rect">
            <a:avLst/>
          </a:prstGeom>
          <a:solidFill>
            <a:srgbClr val="F5EDE0"/>
          </a:solidFill>
          <a:ln w="10160">
            <a:solidFill>
              <a:srgbClr val="C8843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51960" y="3703320"/>
            <a:ext cx="566928" cy="2240280"/>
          </a:xfrm>
          <a:prstGeom prst="rect">
            <a:avLst/>
          </a:prstGeom>
          <a:solidFill>
            <a:srgbClr val="C8843E"/>
          </a:solidFill>
          <a:ln/>
        </p:spPr>
      </p:sp>
      <p:sp>
        <p:nvSpPr>
          <p:cNvPr id="32" name="Text 30"/>
          <p:cNvSpPr/>
          <p:nvPr/>
        </p:nvSpPr>
        <p:spPr>
          <a:xfrm>
            <a:off x="4261104" y="45720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937760" y="3813048"/>
            <a:ext cx="29077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0F05"/>
                </a:solidFill>
              </a:rPr>
              <a:t>Mid-Day Peak Opportunity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937760" y="4325112"/>
            <a:ext cx="2880360" cy="27432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35" name="Text 33"/>
          <p:cNvSpPr/>
          <p:nvPr/>
        </p:nvSpPr>
        <p:spPr>
          <a:xfrm>
            <a:off x="4937760" y="4416552"/>
            <a:ext cx="290779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B3F1E"/>
                </a:solidFill>
              </a:rPr>
              <a:t>Mid-day generates the highest revenue (R220K / 31.5%). Targeted lunch-hour promotions and combo offers can maximise this window further.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138160" y="3703320"/>
            <a:ext cx="3703320" cy="2240280"/>
          </a:xfrm>
          <a:prstGeom prst="rect">
            <a:avLst/>
          </a:prstGeom>
          <a:solidFill>
            <a:srgbClr val="F5EDE0"/>
          </a:solidFill>
          <a:ln w="10160">
            <a:solidFill>
              <a:srgbClr val="C8843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38160" y="3703320"/>
            <a:ext cx="566928" cy="2240280"/>
          </a:xfrm>
          <a:prstGeom prst="rect">
            <a:avLst/>
          </a:prstGeom>
          <a:solidFill>
            <a:srgbClr val="C8843E"/>
          </a:solidFill>
          <a:ln/>
        </p:spPr>
      </p:sp>
      <p:sp>
        <p:nvSpPr>
          <p:cNvPr id="38" name="Text 36"/>
          <p:cNvSpPr/>
          <p:nvPr/>
        </p:nvSpPr>
        <p:spPr>
          <a:xfrm>
            <a:off x="8147304" y="45720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823960" y="3813048"/>
            <a:ext cx="29077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0F05"/>
                </a:solidFill>
              </a:rPr>
              <a:t>Stable Daily Revenue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823960" y="4325112"/>
            <a:ext cx="2880360" cy="27432"/>
          </a:xfrm>
          <a:prstGeom prst="rect">
            <a:avLst/>
          </a:prstGeom>
          <a:solidFill>
            <a:srgbClr val="E8A857"/>
          </a:solidFill>
          <a:ln/>
        </p:spPr>
      </p:sp>
      <p:sp>
        <p:nvSpPr>
          <p:cNvPr id="41" name="Text 39"/>
          <p:cNvSpPr/>
          <p:nvPr/>
        </p:nvSpPr>
        <p:spPr>
          <a:xfrm>
            <a:off x="8823960" y="4416552"/>
            <a:ext cx="290779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7B3F1E"/>
                </a:solidFill>
              </a:rPr>
              <a:t>Revenue is consistent across all days of the week. Consider weekend loyalty programs to convert the 28% weekend share into a growth driver.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C8843E"/>
          </a:solidFill>
          <a:ln/>
        </p:spPr>
      </p:sp>
      <p:sp>
        <p:nvSpPr>
          <p:cNvPr id="43" name="Text 41"/>
          <p:cNvSpPr/>
          <p:nvPr/>
        </p:nvSpPr>
        <p:spPr>
          <a:xfrm>
            <a:off x="0" y="6601968"/>
            <a:ext cx="1216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Bright Coffee Shop  |  Business Performance Analysis 2023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0F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880360" y="914400"/>
            <a:ext cx="6400800" cy="6400800"/>
          </a:xfrm>
          <a:prstGeom prst="ellipse">
            <a:avLst/>
          </a:prstGeom>
          <a:solidFill>
            <a:srgbClr val="C8843E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794760" y="1645920"/>
            <a:ext cx="4572000" cy="4572000"/>
          </a:xfrm>
          <a:prstGeom prst="ellipse">
            <a:avLst/>
          </a:prstGeom>
          <a:solidFill>
            <a:srgbClr val="E8A857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0" y="1645920"/>
            <a:ext cx="1216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00000"/>
                </a:solidFill>
              </a:rPr>
              <a:t>☕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61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0" y="3886200"/>
            <a:ext cx="1216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8A857"/>
                </a:solidFill>
              </a:rPr>
              <a:t>Fuelling great performance, one cup at a time.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51960" y="4572000"/>
            <a:ext cx="3657600" cy="45720"/>
          </a:xfrm>
          <a:prstGeom prst="rect">
            <a:avLst/>
          </a:prstGeom>
          <a:solidFill>
            <a:srgbClr val="C8843E"/>
          </a:solidFill>
          <a:ln/>
        </p:spPr>
      </p:sp>
      <p:sp>
        <p:nvSpPr>
          <p:cNvPr id="8" name="Text 6"/>
          <p:cNvSpPr/>
          <p:nvPr/>
        </p:nvSpPr>
        <p:spPr>
          <a:xfrm>
            <a:off x="0" y="480060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2DFC0"/>
                </a:solidFill>
              </a:rPr>
              <a:t>Total Revenue H1 2023  ·  R698,812  ·  214,470 Transactions  ·  3 Locations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C8843E"/>
          </a:solidFill>
          <a:ln/>
        </p:spPr>
      </p:sp>
      <p:sp>
        <p:nvSpPr>
          <p:cNvPr id="10" name="Text 8"/>
          <p:cNvSpPr/>
          <p:nvPr/>
        </p:nvSpPr>
        <p:spPr>
          <a:xfrm>
            <a:off x="0" y="6601968"/>
            <a:ext cx="1216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Bright Coffee Shop  |  Business Performance Analysis 2023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Bright Coffee Shop Analysis</dc:title>
  <dc:subject>PptxGenJS Presentation</dc:subject>
  <dc:creator>Claude Cowork</dc:creator>
  <cp:lastModifiedBy>Claude Cowork</cp:lastModifiedBy>
  <cp:revision>1</cp:revision>
  <dcterms:created xsi:type="dcterms:W3CDTF">2026-03-30T20:35:05Z</dcterms:created>
  <dcterms:modified xsi:type="dcterms:W3CDTF">2026-03-30T20:35:05Z</dcterms:modified>
</cp:coreProperties>
</file>